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proyecto: una API simple cuyo foco es el proceso. Todo cambio llega a producción por un camino automatizado, verificado y trazable. Orden: pipeline, decisiones técnicas, Tres Formas, Lean, observabilidad y demo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diagrama del informe: del git push al despliegue. Remarcar que la decisión de publicar es manual (merge del PR de release) y que desde ahí publicación y despliegue son automáticos. El Andon Cord son los checks obligatorios del ruleset.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Dockerfile: multi-stage separa compilación de runtime; base fijada; non-root; capas para caché. Integración: Trunk-Based en vez de GitFlow por simplicidad; el título del PR es el commit en main y de ahí sale la versión.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Primera: flujo y consistencia. Segunda: feedback rápido; cortar el cable y ver fallos en producción. Tercera: fallas reales registradas; contar la de las métricas, que no daba ningún error y se resolvió diagnosticando por capas.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Desperdicios de Poppendieck tomados de la materia. Mencionar entrega en lotes pequeños: un cambio por rama y por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histograma cubre las tres señales. Se usan percentiles y no promedios. Saturación queda fuera porque pide métricas de runtime; se menciona como mejora.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empezar: despertar Render y dejar corriendo el generador de tráfico unos minutos para que los paneles tengan datos. Orden de la demo según la lista. Cerrar con las mejoras futuras.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7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92560"/>
            <a:ext cx="10566400" cy="445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7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92560"/>
            <a:ext cx="10566400" cy="445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266950"/>
            <a:ext cx="10883392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TP INTEGRADOR · DEVOPS · 2C 2026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377567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FB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Express + TypeScript · GitHub Actions · Docker Hub · Render · Grafana Cloud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432425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Santiago Abelle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Arquitectura del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541760"/>
            <a:ext cx="1655167" cy="1753791"/>
          </a:xfrm>
          <a:prstGeom prst="roundRect">
            <a:avLst>
              <a:gd name="adj" fmla="val 6906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541760"/>
            <a:ext cx="1655167" cy="1753791"/>
          </a:xfrm>
          <a:custGeom>
            <a:avLst/>
            <a:gdLst/>
            <a:ahLst/>
            <a:cxnLst/>
            <a:rect l="l" t="t" r="r" b="b"/>
            <a:pathLst>
              <a:path w="1655167" h="1753791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1540867" y="0"/>
                </a:lnTo>
                <a:arcTo hR="114300" wR="114300" stAng="16200000" swAng="5400000"/>
                <a:lnTo>
                  <a:pt x="1655167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2F6DB5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770360"/>
            <a:ext cx="13503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6D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2125960"/>
            <a:ext cx="135036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Push y PR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90600" y="2473920"/>
            <a:ext cx="1350367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rama corta + plantilla de PR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94967" y="1541760"/>
            <a:ext cx="1655266" cy="1753791"/>
          </a:xfrm>
          <a:prstGeom prst="roundRect">
            <a:avLst>
              <a:gd name="adj" fmla="val 690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594967" y="1541760"/>
            <a:ext cx="1655266" cy="1753791"/>
          </a:xfrm>
          <a:custGeom>
            <a:avLst/>
            <a:gdLst/>
            <a:ahLst/>
            <a:cxnLst/>
            <a:rect l="l" t="t" r="r" b="b"/>
            <a:pathLst>
              <a:path w="1655266" h="1753791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1540966" y="0"/>
                </a:lnTo>
                <a:arcTo hR="114300" wR="114300" stAng="16200000" swAng="5400000"/>
                <a:lnTo>
                  <a:pt x="1655266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2F6DB5"/>
          </a:solidFill>
          <a:ln/>
        </p:spPr>
      </p:sp>
      <p:sp>
        <p:nvSpPr>
          <p:cNvPr id="10" name="Text 8"/>
          <p:cNvSpPr/>
          <p:nvPr/>
        </p:nvSpPr>
        <p:spPr>
          <a:xfrm>
            <a:off x="2772767" y="1770360"/>
            <a:ext cx="13504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6D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72767" y="2125960"/>
            <a:ext cx="135046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72767" y="2473920"/>
            <a:ext cx="1350466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lint · test · build · docker-build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77234" y="1541760"/>
            <a:ext cx="1655167" cy="1753791"/>
          </a:xfrm>
          <a:prstGeom prst="roundRect">
            <a:avLst>
              <a:gd name="adj" fmla="val 690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377234" y="1541760"/>
            <a:ext cx="1655167" cy="1753791"/>
          </a:xfrm>
          <a:custGeom>
            <a:avLst/>
            <a:gdLst/>
            <a:ahLst/>
            <a:cxnLst/>
            <a:rect l="l" t="t" r="r" b="b"/>
            <a:pathLst>
              <a:path w="1655167" h="1753791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1540867" y="0"/>
                </a:lnTo>
                <a:arcTo hR="114300" wR="114300" stAng="16200000" swAng="5400000"/>
                <a:lnTo>
                  <a:pt x="1655167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2F6D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55034" y="1770360"/>
            <a:ext cx="13503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6D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55034" y="2125960"/>
            <a:ext cx="135036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55034" y="2473920"/>
            <a:ext cx="1350367" cy="6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squash a main, 4 checks obligatorios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59401" y="1541760"/>
            <a:ext cx="1655266" cy="1753791"/>
          </a:xfrm>
          <a:prstGeom prst="roundRect">
            <a:avLst>
              <a:gd name="adj" fmla="val 6905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159401" y="1541760"/>
            <a:ext cx="1655266" cy="1753791"/>
          </a:xfrm>
          <a:custGeom>
            <a:avLst/>
            <a:gdLst/>
            <a:ahLst/>
            <a:cxnLst/>
            <a:rect l="l" t="t" r="r" b="b"/>
            <a:pathLst>
              <a:path w="1655266" h="1753791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1540966" y="0"/>
                </a:lnTo>
                <a:arcTo hR="114300" wR="114300" stAng="16200000" swAng="5400000"/>
                <a:lnTo>
                  <a:pt x="1655266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2F6DB5"/>
          </a:solidFill>
          <a:ln/>
        </p:spPr>
      </p:sp>
      <p:sp>
        <p:nvSpPr>
          <p:cNvPr id="20" name="Text 18"/>
          <p:cNvSpPr/>
          <p:nvPr/>
        </p:nvSpPr>
        <p:spPr>
          <a:xfrm>
            <a:off x="6337201" y="1770360"/>
            <a:ext cx="13504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6D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37201" y="2125960"/>
            <a:ext cx="135046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Release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37201" y="2473920"/>
            <a:ext cx="1350466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release-please: PR + tag SemVer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41667" y="1541760"/>
            <a:ext cx="1655266" cy="1753791"/>
          </a:xfrm>
          <a:prstGeom prst="roundRect">
            <a:avLst>
              <a:gd name="adj" fmla="val 6905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941667" y="1541760"/>
            <a:ext cx="1655266" cy="1753791"/>
          </a:xfrm>
          <a:custGeom>
            <a:avLst/>
            <a:gdLst/>
            <a:ahLst/>
            <a:cxnLst/>
            <a:rect l="l" t="t" r="r" b="b"/>
            <a:pathLst>
              <a:path w="1655266" h="1753791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1540966" y="0"/>
                </a:lnTo>
                <a:arcTo hR="114300" wR="114300" stAng="16200000" swAng="5400000"/>
                <a:lnTo>
                  <a:pt x="1655266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2F6DB5"/>
          </a:solidFill>
          <a:ln/>
        </p:spPr>
      </p:sp>
      <p:sp>
        <p:nvSpPr>
          <p:cNvPr id="25" name="Text 23"/>
          <p:cNvSpPr/>
          <p:nvPr/>
        </p:nvSpPr>
        <p:spPr>
          <a:xfrm>
            <a:off x="8119467" y="1770360"/>
            <a:ext cx="13504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6D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19467" y="2125960"/>
            <a:ext cx="135046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Docker Hub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119467" y="2473920"/>
            <a:ext cx="1350466" cy="6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imagen sabelle04/app:X.Y.Z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723934" y="1541760"/>
            <a:ext cx="1655266" cy="1753791"/>
          </a:xfrm>
          <a:prstGeom prst="roundRect">
            <a:avLst>
              <a:gd name="adj" fmla="val 6905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723934" y="1541760"/>
            <a:ext cx="1655266" cy="1753791"/>
          </a:xfrm>
          <a:custGeom>
            <a:avLst/>
            <a:gdLst/>
            <a:ahLst/>
            <a:cxnLst/>
            <a:rect l="l" t="t" r="r" b="b"/>
            <a:pathLst>
              <a:path w="1655266" h="1753791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1540966" y="0"/>
                </a:lnTo>
                <a:arcTo hR="114300" wR="114300" stAng="16200000" swAng="5400000"/>
                <a:lnTo>
                  <a:pt x="1655266" y="114300"/>
                </a:lnTo>
                <a:arcTo hR="63500" wR="114300" stAng="0" swAng="-5400000"/>
                <a:lnTo>
                  <a:pt x="114300" y="50800"/>
                </a:lnTo>
                <a:arcTo hR="63500" wR="114300" stAng="16200000" swAng="-5400000"/>
                <a:close/>
              </a:path>
            </a:pathLst>
          </a:custGeom>
          <a:solidFill>
            <a:srgbClr val="2F6DB5"/>
          </a:solidFill>
          <a:ln/>
        </p:spPr>
      </p:sp>
      <p:sp>
        <p:nvSpPr>
          <p:cNvPr id="30" name="Text 28"/>
          <p:cNvSpPr/>
          <p:nvPr/>
        </p:nvSpPr>
        <p:spPr>
          <a:xfrm>
            <a:off x="9901734" y="1770360"/>
            <a:ext cx="13504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6D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901734" y="2125960"/>
            <a:ext cx="135046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Render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901734" y="2473920"/>
            <a:ext cx="1350466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Hook con el tag exacto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2800" y="3549551"/>
            <a:ext cx="10566400" cy="957560"/>
          </a:xfrm>
          <a:prstGeom prst="roundRect">
            <a:avLst>
              <a:gd name="adj" fmla="val 11937"/>
            </a:avLst>
          </a:prstGeom>
          <a:solidFill>
            <a:srgbClr val="FCE9E6"/>
          </a:solidFill>
          <a:ln/>
        </p:spPr>
      </p:sp>
      <p:sp>
        <p:nvSpPr>
          <p:cNvPr id="34" name="Text 32"/>
          <p:cNvSpPr/>
          <p:nvPr/>
        </p:nvSpPr>
        <p:spPr>
          <a:xfrm>
            <a:off x="1066800" y="3740051"/>
            <a:ext cx="1036015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A530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Andon Cord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66800" y="4049911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 check en rojo bloquea el merge: ningún artefacto defectuoso avanza.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12800" y="4761111"/>
            <a:ext cx="10566400" cy="647700"/>
          </a:xfrm>
          <a:prstGeom prst="roundRect">
            <a:avLst>
              <a:gd name="adj" fmla="val 17647"/>
            </a:avLst>
          </a:prstGeom>
          <a:solidFill>
            <a:srgbClr val="14233A"/>
          </a:solidFill>
          <a:ln/>
        </p:spPr>
        <p:txBody>
          <a:bodyPr wrap="square" lIns="220523" tIns="157023" rIns="0" bIns="131623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Producción emite logs JSON y métricas OTLP a Grafana Cloud, que realimentan el siguiente ciclo.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Decisiones técnicas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541760"/>
            <a:ext cx="5181600" cy="2334121"/>
          </a:xfrm>
          <a:prstGeom prst="roundRect">
            <a:avLst>
              <a:gd name="adj" fmla="val 5441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95760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F6D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Contenedor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43508" y="2199580"/>
            <a:ext cx="4729480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Multi-stage: 4 etapas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node:22.11.0-alpine3.20, sin latest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Usuario non-root (node)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Capas ordenadas para el caché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97600" y="1541760"/>
            <a:ext cx="5181600" cy="2334121"/>
          </a:xfrm>
          <a:prstGeom prst="roundRect">
            <a:avLst>
              <a:gd name="adj" fmla="val 544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795760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F6D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Integración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28308" y="2199580"/>
            <a:ext cx="4729480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Trunk-Based: ramas efímeras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Ruleset: PR y 4 checks obligatorios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Squash + Conventional Commits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SemVer con release-please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Imagen con tag de versión, sin latest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 Tres Formas en el proyecto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541760"/>
            <a:ext cx="3403600" cy="2908102"/>
          </a:xfrm>
          <a:prstGeom prst="roundRect">
            <a:avLst>
              <a:gd name="adj" fmla="val 4367"/>
            </a:avLst>
          </a:prstGeom>
          <a:solidFill>
            <a:srgbClr val="1F3552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95760"/>
            <a:ext cx="298246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Primera Forma · Flujo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43508" y="2199580"/>
            <a:ext cx="2898140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Verificación, versión, build, publicación y deploy automáticos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Misma imagen inmutable en dev, CI y producción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94200" y="1541760"/>
            <a:ext cx="3403600" cy="2908102"/>
          </a:xfrm>
          <a:prstGeom prst="roundRect">
            <a:avLst>
              <a:gd name="adj" fmla="val 4367"/>
            </a:avLst>
          </a:prstGeom>
          <a:solidFill>
            <a:srgbClr val="1F3552"/>
          </a:solidFill>
          <a:ln/>
        </p:spPr>
      </p:sp>
      <p:sp>
        <p:nvSpPr>
          <p:cNvPr id="7" name="Text 5"/>
          <p:cNvSpPr/>
          <p:nvPr/>
        </p:nvSpPr>
        <p:spPr>
          <a:xfrm>
            <a:off x="4648200" y="1795760"/>
            <a:ext cx="298246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Segunda Forma · Feedback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724908" y="2489101"/>
            <a:ext cx="2898140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Andon Cord: lint, test, build, docker-build y ruleset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 producción: métricas en Grafana y logs JSON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75600" y="1541760"/>
            <a:ext cx="3403600" cy="2908102"/>
          </a:xfrm>
          <a:prstGeom prst="roundRect">
            <a:avLst>
              <a:gd name="adj" fmla="val 4367"/>
            </a:avLst>
          </a:prstGeom>
          <a:solidFill>
            <a:srgbClr val="1F355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795760"/>
            <a:ext cx="298246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Tercera Forma · Aprendizaje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306308" y="2489101"/>
            <a:ext cx="2898140" cy="173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Permisos de Actions: falla en 17 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Secrets faltantes: no se publicó nada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Métricas silenciosas: histograma lazy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Lean: desperdicios que se eliminan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12800" y="1541760"/>
            <a:ext cx="2667000" cy="640060"/>
          </a:xfrm>
          <a:prstGeom prst="roundRect">
            <a:avLst>
              <a:gd name="adj" fmla="val 15874"/>
            </a:avLst>
          </a:prstGeom>
          <a:solidFill>
            <a:srgbClr val="E8A33D"/>
          </a:solidFill>
          <a:ln/>
        </p:spPr>
        <p:txBody>
          <a:bodyPr wrap="square" lIns="198842" tIns="148042" rIns="132548" bIns="13286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Defectos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06800" y="1541760"/>
            <a:ext cx="7772400" cy="640060"/>
          </a:xfrm>
          <a:prstGeom prst="roundRect">
            <a:avLst>
              <a:gd name="adj" fmla="val 15874"/>
            </a:avLst>
          </a:prstGeom>
          <a:solidFill>
            <a:srgbClr val="FFFFFF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Lint, tests y build en cada PR, antes de main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308820"/>
            <a:ext cx="2667000" cy="640060"/>
          </a:xfrm>
          <a:prstGeom prst="roundRect">
            <a:avLst>
              <a:gd name="adj" fmla="val 15874"/>
            </a:avLst>
          </a:prstGeom>
          <a:solidFill>
            <a:srgbClr val="E8A33D"/>
          </a:solidFill>
          <a:ln/>
        </p:spPr>
        <p:txBody>
          <a:bodyPr wrap="square" lIns="198842" tIns="148042" rIns="132548" bIns="13286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Esperas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06800" y="2308820"/>
            <a:ext cx="7772400" cy="640060"/>
          </a:xfrm>
          <a:prstGeom prst="roundRect">
            <a:avLst>
              <a:gd name="adj" fmla="val 15874"/>
            </a:avLst>
          </a:prstGeom>
          <a:solidFill>
            <a:srgbClr val="FFFFFF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Pipeline automático, checks en paralelo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075880"/>
            <a:ext cx="2667000" cy="640060"/>
          </a:xfrm>
          <a:prstGeom prst="roundRect">
            <a:avLst>
              <a:gd name="adj" fmla="val 15874"/>
            </a:avLst>
          </a:prstGeom>
          <a:solidFill>
            <a:srgbClr val="E8A33D"/>
          </a:solidFill>
          <a:ln/>
        </p:spPr>
        <p:txBody>
          <a:bodyPr wrap="square" lIns="198842" tIns="148042" rIns="132548" bIns="13286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Traspasos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06800" y="3075880"/>
            <a:ext cx="7772400" cy="640060"/>
          </a:xfrm>
          <a:prstGeom prst="roundRect">
            <a:avLst>
              <a:gd name="adj" fmla="val 15874"/>
            </a:avLst>
          </a:prstGeom>
          <a:solidFill>
            <a:srgbClr val="FFFFFF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 solo flujo construye, publica, despliega y monitorea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842941"/>
            <a:ext cx="2667000" cy="640060"/>
          </a:xfrm>
          <a:prstGeom prst="roundRect">
            <a:avLst>
              <a:gd name="adj" fmla="val 15874"/>
            </a:avLst>
          </a:prstGeom>
          <a:solidFill>
            <a:srgbClr val="E8A33D"/>
          </a:solidFill>
          <a:ln/>
        </p:spPr>
        <p:txBody>
          <a:bodyPr wrap="square" lIns="198842" tIns="148042" rIns="132548" bIns="13286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Re-aprendizaje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06800" y="3842941"/>
            <a:ext cx="7772400" cy="640060"/>
          </a:xfrm>
          <a:prstGeom prst="roundRect">
            <a:avLst>
              <a:gd name="adj" fmla="val 15874"/>
            </a:avLst>
          </a:prstGeom>
          <a:solidFill>
            <a:srgbClr val="FFFFFF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Docker reproducible, Swagger y changelog como documentación viva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Observabilidad y Golden Signals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541760"/>
            <a:ext cx="3403600" cy="1214041"/>
          </a:xfrm>
          <a:prstGeom prst="roundRect">
            <a:avLst>
              <a:gd name="adj" fmla="val 10461"/>
            </a:avLst>
          </a:prstGeom>
          <a:solidFill>
            <a:srgbClr val="1F3552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95760"/>
            <a:ext cx="2982468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Tráfico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66800" y="2235101"/>
            <a:ext cx="298246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Peticiones por segundo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94200" y="1541760"/>
            <a:ext cx="3403600" cy="1214041"/>
          </a:xfrm>
          <a:prstGeom prst="roundRect">
            <a:avLst>
              <a:gd name="adj" fmla="val 10461"/>
            </a:avLst>
          </a:prstGeom>
          <a:solidFill>
            <a:srgbClr val="1F3552"/>
          </a:solidFill>
          <a:ln/>
        </p:spPr>
      </p:sp>
      <p:sp>
        <p:nvSpPr>
          <p:cNvPr id="7" name="Text 5"/>
          <p:cNvSpPr/>
          <p:nvPr/>
        </p:nvSpPr>
        <p:spPr>
          <a:xfrm>
            <a:off x="4648200" y="1795760"/>
            <a:ext cx="2982468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Latencia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648200" y="2235101"/>
            <a:ext cx="298246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p50 y p95 con histograma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75600" y="1541760"/>
            <a:ext cx="3403600" cy="1214041"/>
          </a:xfrm>
          <a:prstGeom prst="roundRect">
            <a:avLst>
              <a:gd name="adj" fmla="val 10461"/>
            </a:avLst>
          </a:prstGeom>
          <a:solidFill>
            <a:srgbClr val="1F355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795760"/>
            <a:ext cx="2982468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Errores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229600" y="2235101"/>
            <a:ext cx="298246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Tasa y conteo de 4xx y 5xx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009801"/>
            <a:ext cx="1088339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Logs JSON:</a:t>
            </a:r>
            <a:r>
              <a: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timestamp, level, path y status_code. </a:t>
            </a:r>
            <a:r>
              <a:rPr lang="en-US" sz="1600" b="1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Métricas:</a:t>
            </a:r>
            <a:r>
              <a: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OpenTelemetry hacia Grafana Cloud. Dashboard armado desde cero.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 y cierre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541760"/>
            <a:ext cx="5181600" cy="2049661"/>
          </a:xfrm>
          <a:prstGeom prst="roundRect">
            <a:avLst>
              <a:gd name="adj" fmla="val 6196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95760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 en vivo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43508" y="2199580"/>
            <a:ext cx="4729480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 y Swagger en /api/docs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 con checks y ruleset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Release e imagen en Docker Hub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D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Tráfico: dashboard y logs con 500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97600" y="1541760"/>
            <a:ext cx="5181600" cy="2049661"/>
          </a:xfrm>
          <a:prstGeom prst="roundRect">
            <a:avLst>
              <a:gd name="adj" fmla="val 6196"/>
            </a:avLst>
          </a:prstGeom>
          <a:solidFill>
            <a:srgbClr val="1F3552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795760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Mejoras futuras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28308" y="2199580"/>
            <a:ext cx="4729480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Alertas en Grafana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Escaneo con Trivy en CI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Saturación (CPU y memoria)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IaC para Render y Grafana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ensa TP Integrador DevOps">
  <a:themeElements>
    <a:clrScheme name="Defensa TP Integrador DevOps">
      <a:dk1>
        <a:srgbClr val="14233A"/>
      </a:dk1>
      <a:lt1>
        <a:srgbClr val="F4F1EA"/>
      </a:lt1>
      <a:dk2>
        <a:srgbClr val="2A384C"/>
      </a:dk2>
      <a:lt2>
        <a:srgbClr val="BCBEBE"/>
      </a:lt2>
      <a:accent1>
        <a:srgbClr val="E8A33D"/>
      </a:accent1>
      <a:accent2>
        <a:srgbClr val="2F6DB5"/>
      </a:accent2>
      <a:accent3>
        <a:srgbClr val="9FB0C8"/>
      </a:accent3>
      <a:accent4>
        <a:srgbClr val="A5301F"/>
      </a:accent4>
      <a:accent5>
        <a:srgbClr val="4A5568"/>
      </a:accent5>
      <a:accent6>
        <a:srgbClr val="9AA0A6"/>
      </a:accent6>
      <a:hlink>
        <a:srgbClr val="0563C1"/>
      </a:hlink>
      <a:folHlink>
        <a:srgbClr val="954F72"/>
      </a:folHlink>
    </a:clrScheme>
    <a:fontScheme name="Defensa TP Integrador DevOps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TP Integrador DevOps</dc:title>
  <dc:subject/>
  <dc:creator/>
  <cp:lastModifiedBy/>
  <cp:revision>1</cp:revision>
  <dcterms:created xsi:type="dcterms:W3CDTF">2026-10-23T00:28:36Z</dcterms:created>
  <dcterms:modified xsi:type="dcterms:W3CDTF">2026-10-23T00:28:36Z</dcterms:modified>
</cp:coreProperties>
</file>